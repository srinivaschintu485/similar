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B7E5-B50A-F775-61E8-4BCC7E4F2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B39F16-7FB1-0621-6942-2E8CE1670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20EFE-42A8-5BD4-7598-49A3A639F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6849-8C25-4B22-B55B-71B88711D22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04740-47C1-85DA-0AEA-585A5C244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240DD-EC86-7D1F-309A-A0F0605C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6C6F-9267-412A-B3DB-57C7E7E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88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2712C-474B-FC40-C8AD-E64BDB42C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5646E-E7D0-3761-4892-39B190A6F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3B23C-C4FF-2408-FE44-D8276D2E5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6849-8C25-4B22-B55B-71B88711D22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8D1BA-7FB3-A93D-7489-3EF3DE36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7DB29-E70D-4059-5918-1406E4FA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6C6F-9267-412A-B3DB-57C7E7E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283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F1F82-1FFC-89BA-42BA-5BC259C5B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4C977-EBDE-E952-0AAF-E2627821C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F332C-BDE1-47C4-473F-0D24D1E90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6849-8C25-4B22-B55B-71B88711D22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3A6A1-BA76-8FCB-D0EB-27372B08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1CBEE-DDDF-0D0F-5665-4AF47EBF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6C6F-9267-412A-B3DB-57C7E7E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80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2F403-7BC0-0BF0-F2C0-A304D905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3B7DE-9768-84A6-4391-1D5DEA5CAC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02B1A-359C-5117-1FCE-9DE1D0726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E790C-5C5D-DD26-BC1A-F47D0E8D9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6849-8C25-4B22-B55B-71B88711D22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B6FCB-FC7E-9AB6-2F25-E0AF8EEC1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BC827-46DC-DDFB-9DD0-526F4AB4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6C6F-9267-412A-B3DB-57C7E7E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1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637F8-C16B-89F3-4693-6ABD0AF32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EBD78-47FF-5214-414B-31C3518E8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D55DC-DEEC-F7B1-4100-A4D8B7ECD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BAECA-97CA-8D7F-8F59-6D4D904C00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7EBB65-414E-6029-8AFD-636C3CF35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BE53C3-CFF3-8AC4-DE2A-D392D18BE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6849-8C25-4B22-B55B-71B88711D22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68F6F9-54DC-9F29-713E-E2AFC8671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0670BA-EB61-DEF9-917C-8EACF3215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6C6F-9267-412A-B3DB-57C7E7E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80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BA712-296B-9A43-CA31-A8A3E3893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741A4-C994-0416-3A31-D8370F07A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6849-8C25-4B22-B55B-71B88711D22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9A2D7E-3823-2D66-A4EC-D5EC1A56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EC002-1F41-DE63-5FCA-DB27DAEE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6C6F-9267-412A-B3DB-57C7E7E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55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14615B-E211-D52F-25D6-0833A50F4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6849-8C25-4B22-B55B-71B88711D22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34DC19-8839-7107-8674-207343BA8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4FF56-DBA5-CAED-277F-D166FCCD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6C6F-9267-412A-B3DB-57C7E7E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65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CBBA2-F36E-8D53-6D57-53B962F6D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33FF1-D78B-D6B7-19C1-2F73E95E9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51E9-7642-FFD8-E59E-ECE9F5000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ABE72-827F-D251-F348-ACA61A712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6849-8C25-4B22-B55B-71B88711D22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0DB9C-386D-E2A6-76B9-03036A0A5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E0F99-ED19-23D1-7B3A-E989A73DA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6C6F-9267-412A-B3DB-57C7E7E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04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9638D-116D-0079-6A4C-668D6559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A167E-ECA5-CA06-BE26-34826D33EA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AF1EC-3E6B-4E21-F998-DB7F45FD8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C0ACB-D7BE-D457-579A-E61A23059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6849-8C25-4B22-B55B-71B88711D22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0A939-1BC7-E9B0-6A3D-5A33E7557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B81F3-8F41-8E26-9626-0B942BFF9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6C6F-9267-412A-B3DB-57C7E7E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08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25283-E29A-42EB-67B5-2E57E492B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F438B-F972-6B18-3F18-B8C0FF1E6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6C555-169E-1D76-7DE2-A8480C72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6849-8C25-4B22-B55B-71B88711D22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901B2-4805-1BE2-309F-48E3D1BD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CAF24-F576-C97F-E93D-3A8843FD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6C6F-9267-412A-B3DB-57C7E7E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790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CD3C20-86F7-1B6B-A52D-0D7F51C321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6D2264-1C48-D49E-F5EF-B31E4D77D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BA74C-8CDD-4531-B33D-809B80B66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6849-8C25-4B22-B55B-71B88711D22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911DC-1D76-01A9-DACB-F0E47A788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D3075-B491-B7DD-46B0-9AE3A0BD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6C6F-9267-412A-B3DB-57C7E7E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11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B56675-572E-B2B1-E42D-63E8FBD24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379D5-91D4-6657-35E3-F2C153F97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42CAE-4C63-761A-864C-635D62C697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16849-8C25-4B22-B55B-71B88711D22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92E2B-F83B-4FDD-D14F-5DFAB4ED53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27672-8D85-3B16-2E99-04260F1D7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46C6F-9267-412A-B3DB-57C7E7E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4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93BD1-A42B-3C98-5999-D7905BE2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686FF-68DC-FBED-5628-9B163FF92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C84590-D2A4-497C-A46F-61CA9F3EA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221" y="2100771"/>
            <a:ext cx="5969350" cy="395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1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E51344B-42F8-1709-25E9-1747EA600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5743" y="599814"/>
            <a:ext cx="9144000" cy="5373730"/>
          </a:xfrm>
        </p:spPr>
        <p:txBody>
          <a:bodyPr/>
          <a:lstStyle/>
          <a:p>
            <a:r>
              <a:rPr lang="en-US" b="1" dirty="0"/>
              <a:t>The host</a:t>
            </a:r>
            <a:br>
              <a:rPr lang="en-US" dirty="0"/>
            </a:br>
            <a:r>
              <a:rPr lang="en-US" dirty="0"/>
              <a:t>The central orchestrator in MCP is usually an AI-powered app like a chatbot, IDE, or productivity tool that embeds a language model.</a:t>
            </a:r>
          </a:p>
          <a:p>
            <a:r>
              <a:rPr lang="en-US" b="1" dirty="0"/>
              <a:t>Responsibilities:</a:t>
            </a:r>
            <a:endParaRPr lang="en-US" dirty="0"/>
          </a:p>
          <a:p>
            <a:r>
              <a:rPr lang="en-US" dirty="0"/>
              <a:t>• </a:t>
            </a:r>
            <a:r>
              <a:rPr lang="en-US" b="1" dirty="0"/>
              <a:t>Lifecycle Management:</a:t>
            </a:r>
            <a:r>
              <a:rPr lang="en-US" dirty="0"/>
              <a:t> Handles creation, initialization, and coordination of multiple tool calls.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Authorization and Security:</a:t>
            </a:r>
            <a:r>
              <a:rPr lang="en-US" dirty="0"/>
              <a:t> Manages user permissions, consent, and enforces security boundaries.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Context Aggregation:</a:t>
            </a:r>
            <a:r>
              <a:rPr lang="en-US" dirty="0"/>
              <a:t> Gathers contextual data from all clients to deliver richer input to the AI model.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Integration Coordination:</a:t>
            </a:r>
            <a:r>
              <a:rPr lang="en-US" dirty="0"/>
              <a:t> Connects the LLM with MCP tools to retrieve external data like stock prices or weather.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818916-3BBF-8130-E354-9C2019801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9" y="632010"/>
            <a:ext cx="2667374" cy="488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479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2AD9C-9A83-4941-D866-2F4B1F82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8C15F-DFD7-E573-45B8-30BC6B581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180" y="1556158"/>
            <a:ext cx="7985620" cy="462080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MCP clients</a:t>
            </a:r>
            <a:br>
              <a:rPr lang="en-US" dirty="0"/>
            </a:br>
            <a:r>
              <a:rPr lang="en-US" dirty="0"/>
              <a:t>Act as intermediaries between the host and MCP servers, maintaining dedicated connections to ensure clear boundaries and strong security.</a:t>
            </a:r>
          </a:p>
          <a:p>
            <a:r>
              <a:rPr lang="en-US" b="1" dirty="0"/>
              <a:t>Responsibilities</a:t>
            </a:r>
            <a:endParaRPr lang="en-US" dirty="0"/>
          </a:p>
          <a:p>
            <a:r>
              <a:rPr lang="en-US" dirty="0"/>
              <a:t>• </a:t>
            </a:r>
            <a:r>
              <a:rPr lang="en-US" b="1" dirty="0"/>
              <a:t>Dedicated Connections:</a:t>
            </a:r>
            <a:r>
              <a:rPr lang="en-US" dirty="0"/>
              <a:t> Each client connects to a single server, ensuring isolated, secure one-to-one communication.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Message Routing:</a:t>
            </a:r>
            <a:r>
              <a:rPr lang="en-US" dirty="0"/>
              <a:t> Manages two-way communication like routing all requests, responses, and notifications.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Capability Management:</a:t>
            </a:r>
            <a:r>
              <a:rPr lang="en-US" dirty="0"/>
              <a:t> Keeps track of the tools, resources, and templates their server supports.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Protocol Negotiation:</a:t>
            </a:r>
            <a:r>
              <a:rPr lang="en-US" dirty="0"/>
              <a:t> Clients and servers negotiate supported features during setup to ensure they’re compatible.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Subscription Management:</a:t>
            </a:r>
            <a:r>
              <a:rPr lang="en-US" dirty="0"/>
              <a:t> Subscribes to server resources and receives updates when changes occur.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5F1861-F2E1-5BA4-26ED-33D4A0D9C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312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300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8B623-3D2F-F505-7B9D-87E57199C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45590-6AA3-6682-D86B-AABA371F6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MCP servers</a:t>
            </a:r>
            <a:br>
              <a:rPr lang="en-US" dirty="0"/>
            </a:br>
            <a:r>
              <a:rPr lang="en-US" dirty="0"/>
              <a:t>Lightweight programs that expose tools, services, or data sources to clients—enabling the host to interact with external systems.</a:t>
            </a:r>
          </a:p>
          <a:p>
            <a:r>
              <a:rPr lang="en-US" b="1" dirty="0"/>
              <a:t>Responsibilities</a:t>
            </a:r>
            <a:endParaRPr lang="en-US" dirty="0"/>
          </a:p>
          <a:p>
            <a:r>
              <a:rPr lang="en-US" dirty="0"/>
              <a:t>• </a:t>
            </a:r>
            <a:r>
              <a:rPr lang="en-US" b="1" dirty="0"/>
              <a:t>Exposing Capabilities:</a:t>
            </a:r>
            <a:r>
              <a:rPr lang="en-US" dirty="0"/>
              <a:t> Makes tools, data sources, and templates available to clients using MCP primitives.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Focused Functionality:</a:t>
            </a:r>
            <a:r>
              <a:rPr lang="en-US" dirty="0"/>
              <a:t> Each server provides a specific function or data access point supporting modular design.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Security and Isolation:</a:t>
            </a:r>
            <a:r>
              <a:rPr lang="en-US" dirty="0"/>
              <a:t> Only receives relevant context, ensuring strict data boundaries and isolation from other servers.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Communication Methods:</a:t>
            </a:r>
            <a:r>
              <a:rPr lang="en-US" dirty="0"/>
              <a:t> Runs locally (via </a:t>
            </a:r>
            <a:r>
              <a:rPr lang="en-US" dirty="0" err="1"/>
              <a:t>Stdio</a:t>
            </a:r>
            <a:r>
              <a:rPr lang="en-US" dirty="0"/>
              <a:t>) or remotely (via HTTP/SSE for real-time updates).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22906-4CD9-FAC5-5F94-4A508C3F6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08" y="0"/>
            <a:ext cx="33566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541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FE2E8-25E0-2ADC-F817-A58F5D06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34524-B2A1-4447-3F23-1FA341193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7612" y="1825625"/>
            <a:ext cx="7826188" cy="2925669"/>
          </a:xfrm>
        </p:spPr>
        <p:txBody>
          <a:bodyPr/>
          <a:lstStyle/>
          <a:p>
            <a:r>
              <a:rPr lang="en-US" b="1" dirty="0"/>
              <a:t>Data sources and services</a:t>
            </a:r>
            <a:br>
              <a:rPr lang="en-US" dirty="0"/>
            </a:br>
            <a:r>
              <a:rPr lang="en-US" dirty="0"/>
              <a:t>The actual APIs, databases, or tools that store information accessed by MCP servers to deliver real-time, relevant data to the AI.</a:t>
            </a:r>
          </a:p>
          <a:p>
            <a:r>
              <a:rPr lang="en-US" dirty="0"/>
              <a:t>The MCP architecture is built on a robust, standardized communication protocol, typically using </a:t>
            </a:r>
            <a:r>
              <a:rPr lang="en-US" b="1" dirty="0"/>
              <a:t>JSON-RPC 2.0</a:t>
            </a:r>
            <a:r>
              <a:rPr lang="en-US" dirty="0"/>
              <a:t> for message passing.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031A2-1DDB-24A0-2C4D-B478C9712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34" y="33556"/>
            <a:ext cx="3072001" cy="6187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852A07-B5FB-904A-E6BF-AD8FD911C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369" y="3835435"/>
            <a:ext cx="5302902" cy="289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7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E1D18-F712-F302-1A3B-569AD6AAB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5DED8-BB8F-B73F-3F99-6D17820EA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Data sources and services</a:t>
            </a:r>
            <a:br>
              <a:rPr lang="en-US" dirty="0"/>
            </a:br>
            <a:r>
              <a:rPr lang="en-US" dirty="0"/>
              <a:t>The actual APIs, databases, or tools that store information accessed by MCP servers to deliver real-time, relevant data to the AI.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The interaction</a:t>
            </a:r>
            <a:endParaRPr lang="en-US" dirty="0"/>
          </a:p>
          <a:p>
            <a:r>
              <a:rPr lang="en-US" b="1" dirty="0"/>
              <a:t>Request Initiation:</a:t>
            </a:r>
            <a:r>
              <a:rPr lang="en-US" dirty="0"/>
              <a:t> The client sends a request to its MCP server, asking for data or a specific action.</a:t>
            </a:r>
          </a:p>
          <a:p>
            <a:r>
              <a:rPr lang="en-US" b="1" dirty="0"/>
              <a:t>Server Processing:</a:t>
            </a:r>
            <a:r>
              <a:rPr lang="en-US" dirty="0"/>
              <a:t> The server handles the request by accessing the necessary tool or data source.</a:t>
            </a:r>
          </a:p>
          <a:p>
            <a:r>
              <a:rPr lang="en-US" b="1" dirty="0"/>
              <a:t>Response Delivery:</a:t>
            </a:r>
            <a:r>
              <a:rPr lang="en-US" dirty="0"/>
              <a:t> The server returns the result to the client, which forwards it to the host and the AI model.</a:t>
            </a:r>
          </a:p>
          <a:p>
            <a:r>
              <a:rPr lang="en-US" b="1" dirty="0"/>
              <a:t>Contextual Handling:</a:t>
            </a:r>
            <a:r>
              <a:rPr lang="en-US" dirty="0"/>
              <a:t> The host aggregates and manages all context, ensuring the AI receives complete, coherent input.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114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91D0E-5AB2-EB2E-D66B-C2CE90251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B7C82-AAF3-4FE3-7BA0-CE103E3C6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Key principles of MCP architecture</a:t>
            </a:r>
          </a:p>
          <a:p>
            <a:r>
              <a:rPr lang="en-US" b="1" dirty="0"/>
              <a:t>Standardization</a:t>
            </a:r>
            <a:br>
              <a:rPr lang="en-US" dirty="0"/>
            </a:br>
            <a:r>
              <a:rPr lang="en-US" dirty="0"/>
              <a:t>A universal protocol that replaces custom integrations, enabling seamless interoperability across tools and models.</a:t>
            </a:r>
          </a:p>
          <a:p>
            <a:r>
              <a:rPr lang="en-US" b="1" dirty="0"/>
              <a:t>Security and Isolation</a:t>
            </a:r>
            <a:br>
              <a:rPr lang="en-US" dirty="0"/>
            </a:br>
            <a:r>
              <a:rPr lang="en-US" dirty="0"/>
              <a:t>Enforces strict context limits to protect sensitive data and honor user consent.</a:t>
            </a:r>
          </a:p>
          <a:p>
            <a:r>
              <a:rPr lang="en-US" b="1" dirty="0"/>
              <a:t>Modularity and Composability</a:t>
            </a:r>
            <a:br>
              <a:rPr lang="en-US" dirty="0"/>
            </a:br>
            <a:r>
              <a:rPr lang="en-US" dirty="0"/>
              <a:t>Servers provide focused functions and can be combined within a host for flexible, scalable setups.</a:t>
            </a:r>
          </a:p>
          <a:p>
            <a:r>
              <a:rPr lang="en-US" b="1" dirty="0"/>
              <a:t>Capability Negotiation</a:t>
            </a:r>
            <a:br>
              <a:rPr lang="en-US" dirty="0"/>
            </a:br>
            <a:r>
              <a:rPr lang="en-US" dirty="0"/>
              <a:t>Clients and servers agree on supported features during setup, ensuring compatibility and forward extensibility.</a:t>
            </a:r>
          </a:p>
          <a:p>
            <a:r>
              <a:rPr lang="en-US" b="1"/>
              <a:t>Ease of Implementation</a:t>
            </a:r>
            <a:br>
              <a:rPr lang="en-US"/>
            </a:br>
            <a:r>
              <a:rPr lang="en-US"/>
              <a:t>Lightweight design thereby reducing development effort for both clients and servers.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24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588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Pendotagaya, Srinivas</dc:creator>
  <cp:lastModifiedBy>Pendotagaya, Srinivas</cp:lastModifiedBy>
  <cp:revision>5</cp:revision>
  <dcterms:created xsi:type="dcterms:W3CDTF">2025-11-07T13:42:19Z</dcterms:created>
  <dcterms:modified xsi:type="dcterms:W3CDTF">2025-11-07T13:57:33Z</dcterms:modified>
</cp:coreProperties>
</file>